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Roboto Slab"/>
      <p:regular r:id="rId38"/>
      <p:bold r:id="rId39"/>
    </p:embeddedFont>
    <p:embeddedFont>
      <p:font typeface="La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5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Lat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Slab-bold.fntdata"/><Relationship Id="rId16" Type="http://schemas.openxmlformats.org/officeDocument/2006/relationships/slide" Target="slides/slide11.xml"/><Relationship Id="rId38" Type="http://schemas.openxmlformats.org/officeDocument/2006/relationships/font" Target="fonts/RobotoSlab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35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4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23.png"/><Relationship Id="rId5" Type="http://schemas.openxmlformats.org/officeDocument/2006/relationships/image" Target="../media/image54.png"/><Relationship Id="rId6" Type="http://schemas.openxmlformats.org/officeDocument/2006/relationships/image" Target="../media/image32.png"/><Relationship Id="rId7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48.png"/><Relationship Id="rId5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39.png"/><Relationship Id="rId6" Type="http://schemas.openxmlformats.org/officeDocument/2006/relationships/image" Target="../media/image41.png"/><Relationship Id="rId7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43.png"/><Relationship Id="rId5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45.png"/><Relationship Id="rId5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0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image" Target="../media/image52.png"/><Relationship Id="rId7" Type="http://schemas.openxmlformats.org/officeDocument/2006/relationships/image" Target="../media/image49.png"/><Relationship Id="rId8" Type="http://schemas.openxmlformats.org/officeDocument/2006/relationships/image" Target="../media/image5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904875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AC0A3"/>
                </a:solidFill>
                <a:latin typeface="Lato"/>
                <a:ea typeface="Lato"/>
                <a:cs typeface="Lato"/>
                <a:sym typeface="Lato"/>
              </a:rPr>
              <a:t>ĐỒ ÁN MÔN HỌC: KIỂM THỬ PHẦN MỀM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95275" y="1285875"/>
            <a:ext cx="1160145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Kế hoạch kiểm thử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 Website bán thức ăn nhanh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 UMADAKIMASU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143500" y="3629025"/>
            <a:ext cx="1905000" cy="57150"/>
          </a:xfrm>
          <a:prstGeom prst="rect">
            <a:avLst/>
          </a:prstGeom>
          <a:solidFill>
            <a:srgbClr val="DAC0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214241" y="4352925"/>
            <a:ext cx="18666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GVHD: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TS. Đỗ Như Tài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214241" y="4752975"/>
            <a:ext cx="18666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Năm học: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2025-2026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52393" y="4352925"/>
            <a:ext cx="292536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Thành viên: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52393" y="4752975"/>
            <a:ext cx="292536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Hồ Nguyên Minh - 3122411123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52393" y="5153025"/>
            <a:ext cx="292536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Thông Trung Quyền - 3122411175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52393" y="5553075"/>
            <a:ext cx="292536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Lục Trọng Khoa - 3122411096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490787"/>
            <a:ext cx="5286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Nội dung trình bày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500312"/>
            <a:ext cx="52673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04875" y="23431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Giới thiệu đề tài: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Tổng quan, thách thức và hướng tiếp cận.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30956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Kế hoạch kiểm thử: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Phân tích chi tiết từ yêu cầu, hệ thống đến kiến trúc.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38481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Các phương luận: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Chiến lược kiểm thử hộp trắng/đen, tự động hóa và AI.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04875" y="46005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 Kết quả đạt được: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Báo cáo thực thi và tổng kết lỗi.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04875" y="50482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 Kết luận: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Đánh giá và hướng phát triển tương lai.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622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146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671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6196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0673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C5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3385661" y="2455515"/>
            <a:ext cx="542067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DAC0A3"/>
                </a:solidFill>
                <a:latin typeface="Roboto Slab"/>
                <a:ea typeface="Roboto Slab"/>
                <a:cs typeface="Roboto Slab"/>
                <a:sym typeface="Roboto Slab"/>
              </a:rPr>
              <a:t>1. Giới thiệu đề tài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381625" y="3541365"/>
            <a:ext cx="1428750" cy="19050"/>
          </a:xfrm>
          <a:prstGeom prst="rect">
            <a:avLst/>
          </a:prstGeom>
          <a:solidFill>
            <a:srgbClr val="DAC0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3069580" y="4036665"/>
            <a:ext cx="6052839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Tổng quan về dự án UMADAKIMASU, bối cảnh Agile &amp; CI/CD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Tổng quan đề tài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31337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Website UMADAKIMASU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36004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Hệ thống thương mại điện tử chuyên biệt cho việc đặt thức ăn nhanh, tối ưu hóa quy trình từ đặt món đến giao hàng.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43053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Công nghệ: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Microservices (Node.js + ReactJS), MongoDB.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334125" y="2976562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Phương pháp phát triển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334125" y="34528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Agile/Scrum: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Thích ứng nhanh với thay đổi, phát triển theo từng Sprint.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334125" y="41576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CI/CD: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Tích hợp liên tục (GitHub Actions) để tự động hóa quy trình build và test, đảm bảo chất lượng mã nguồn.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1718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14662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38375"/>
            <a:ext cx="34924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238375"/>
            <a:ext cx="3492549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2238375"/>
            <a:ext cx="3492400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Thách thức trong kiểm thử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57250" y="3219450"/>
            <a:ext cx="30669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Tốc độ phát triển nhanh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57250" y="3695700"/>
            <a:ext cx="2920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Môi trường Agile đòi hỏi kiểm thử phải bắt kịp tốc độ thay đổi code liên tục, dễ dẫn đến bỏ sót lỗi nếu không có tự động hóa.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635400" y="3219450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Kiến trúc phức tạp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635400" y="3695700"/>
            <a:ext cx="29210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Hệ thống Microservices phân tán khiến việc kiểm thử tích hợp (Integration Testing) và đồng bộ dữ liệu trở nên khó khăn hơn Monolithic.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413700" y="3219450"/>
            <a:ext cx="30669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Thay đổi yêu cầu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413700" y="3695700"/>
            <a:ext cx="2920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Yêu cầu nghiệp vụ thay đổi thường xuyên trong quá trình phát triển, đòi hỏi Test Case phải được cập nhật liên tục.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609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5400" y="26098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3700" y="260985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Hướng tiếp cận &amp; Đóng góp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2176462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Chiến lược chính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0240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904875" y="26527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Áp dụng V-Model: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Ánh xạ chặt chẽ giữa các giai đoạn phát triển và mức độ kiểm thử tương ứng.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04875" y="34051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Shift Left Testing: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Đưa kiểm thử vào sớm nhất có thể (Unit Test, Review Requirement).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04875" y="41576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CI/CD Pipeline: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Tự động chạy Unit Test và Integration Test mỗi khi có commit mới lên GitHub.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04875" y="49101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Kết hợp Manual &amp; Auto: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Manual cho UX/Exploratory, Auto cho Regression.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717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242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767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2918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C59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/>
        </p:nvSpPr>
        <p:spPr>
          <a:xfrm>
            <a:off x="2850594" y="2455515"/>
            <a:ext cx="649081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DAC0A3"/>
                </a:solidFill>
                <a:latin typeface="Roboto Slab"/>
                <a:ea typeface="Roboto Slab"/>
                <a:cs typeface="Roboto Slab"/>
                <a:sym typeface="Roboto Slab"/>
              </a:rPr>
              <a:t>2. Kế hoạch kiểm thử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381625" y="3541365"/>
            <a:ext cx="1428750" cy="19050"/>
          </a:xfrm>
          <a:prstGeom prst="rect">
            <a:avLst/>
          </a:prstGeom>
          <a:solidFill>
            <a:srgbClr val="DAC0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4029075" y="4036665"/>
            <a:ext cx="4133701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Đối tượng, chiến lược và phân tích chi tiết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Quy trình kiểm thử V-Model</a:t>
            </a:r>
            <a:endParaRPr/>
          </a:p>
        </p:txBody>
      </p:sp>
      <p:pic>
        <p:nvPicPr>
          <p:cNvPr descr="image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240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6334125" y="2271712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Ánh xạ Quy trình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457950" y="2747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572250" y="27479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Requirement Analysis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↔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User Acceptance Testing (UAT):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nghiệp vụ người dùng.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457950" y="34528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572250" y="34528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System Design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↔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System Testing: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toàn bộ hệ thống (E2E).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457950" y="41576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572250" y="41576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Architecture Design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↔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Integration Testing: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kết nối API, Microservices.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457950" y="48625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572250" y="48625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Module Design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↔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Unit Testing: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từng hàm, component riêng lẻ.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Phân tích yêu cầu &amp; Kiểm thử chấp nhận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308133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Yêu cầu chức năng (BR)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334125" y="2728912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Chiến lược UAT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334125" y="32051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thử dựa trên kịch bản thực tế của người dùng cuối (User Stories):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334125" y="471011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Tiêu chí: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Pass tất cả Critical User Stories.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95325" y="35575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809625" y="35575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BR1: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Đăng ký, đăng nhập, quản lý tài khoản.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95325" y="39576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09625" y="39576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BR2: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Duyệt menu, tìm kiếm, giỏ hàng.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95325" y="43576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809625" y="43576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BR3: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Thanh toán, xử lý đơn hàng.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457950" y="39100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572250" y="39100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"Là khách hàng, tôi muốn thêm món vào giỏ để mua hàng."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457950" y="43100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572250" y="43100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"Là Admin, tôi muốn xem danh sách đơn hàng để xử lý."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90775"/>
            <a:ext cx="34924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390775"/>
            <a:ext cx="3492549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2390775"/>
            <a:ext cx="34924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Thiết kế hệ thống: Workflow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857250" y="3371850"/>
            <a:ext cx="30669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Luồng Đặt Hàng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857250" y="3848100"/>
            <a:ext cx="2920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thử chuyển trạng thái: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Chọn món → Giỏ hàng → Checkout → Pending → Confirmed → Delivering → Completed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4635400" y="3371850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Luồng Thanh Toán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4635400" y="3848100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thử tích hợp Stripe: Xử lý thẻ hợp lệ, thẻ lỗi, hủy thanh toán, và cập nhật trạng thái đơn hàng tương ứng.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8413700" y="3371850"/>
            <a:ext cx="30669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Luồng Quản Trị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8413700" y="3848100"/>
            <a:ext cx="2920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Admin cập nhật menu, thay đổi trạng thái đơn hàng, và phân quyền người dùng (Role-based access control).</a:t>
            </a:r>
            <a:endParaRPr/>
          </a:p>
        </p:txBody>
      </p:sp>
      <p:pic>
        <p:nvPicPr>
          <p:cNvPr descr="image.png" id="219" name="Google Shape;2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622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5400" y="27622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3700" y="2762250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Thiết kế hệ thống: Data Model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2552700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Đối tượng kiểm thử (MongoDB)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904875" y="3028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Schema Validation: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Đảm bảo dữ liệu (Users, Orders, Foods) tuân thủ đúng định dạng, kiểu dữ liệu, bắt buộc/tùy chọn.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904875" y="37814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Relationships: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tính toàn vẹn tham chiếu (VD: Order phải chứa UserID hợp lệ).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904875" y="4533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CRUD Operations: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thử thêm, sửa, xóa dữ liệu và xử lý các trường hợp dữ liệu rác.</a:t>
            </a:r>
            <a:endParaRPr/>
          </a:p>
        </p:txBody>
      </p:sp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43937" y="3243262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7134225" y="4195762"/>
            <a:ext cx="3686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MongoDB Schema: Users, Orders, Products</a:t>
            </a:r>
            <a:endParaRPr/>
          </a:p>
        </p:txBody>
      </p:sp>
      <p:pic>
        <p:nvPicPr>
          <p:cNvPr descr="image.png" id="234" name="Google Shape;23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480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004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5295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Thiết kế hệ thống: UI/UX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6334125" y="2328862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Kiểm thử giao diện &amp; Trải nghiệm</a:t>
            </a:r>
            <a:endParaRPr/>
          </a:p>
        </p:txBody>
      </p:sp>
      <p:pic>
        <p:nvPicPr>
          <p:cNvPr descr="image.png" id="244" name="Google Shape;24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3633787"/>
            <a:ext cx="4286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3250" y="3538537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6667500" y="28051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Responsive Design: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Hiển thị tốt trên Desktop, Tablet, Mobile.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6667500" y="35575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Usability: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Dễ dàng tìm kiếm món ăn, thao tác giỏ hàng mượt mà, ít bước click.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667500" y="43100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Feedback: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Thông báo lỗi rõ ràng (Toast notification) khi nhập sai hoặc lỗi hệ thống.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6667500" y="50625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Consistency: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Màu sắc, font chữ đồng nhất theo thiết kế.</a:t>
            </a:r>
            <a:endParaRPr/>
          </a:p>
        </p:txBody>
      </p:sp>
      <p:pic>
        <p:nvPicPr>
          <p:cNvPr descr="image.png" id="250" name="Google Shape;25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8241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5766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3291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508158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Kiểm thử phi chức năng: Hiệu suất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571500" y="262413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Mục tiêu &amp; Chỉ số</a:t>
            </a:r>
            <a:endParaRPr/>
          </a:p>
        </p:txBody>
      </p:sp>
      <p:pic>
        <p:nvPicPr>
          <p:cNvPr descr="image.png" id="261" name="Google Shape;26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0240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95325" y="31003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09625" y="31003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Load Testing: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khả năng chịu tải của hệ thống với 1000+ người dùng đồng thời.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695325" y="38052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809625" y="38052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Stress Testing: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Xác định điểm gãy (breaking point) của hệ thống.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695325" y="45100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809625" y="45100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Response Time: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Đảm bảo API phản hồi dưới 200ms cho các tác vụ cơ bản.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95537"/>
            <a:ext cx="34924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395537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2395537"/>
            <a:ext cx="34924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Kiểm thử phi chức năng: Bảo mật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857250" y="3376612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Authentication (JWT)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857250" y="3843337"/>
            <a:ext cx="2920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tra cơ chế cấp, xác thực và hết hạn Token. Đảm bảo không thể truy cập API bảo mật khi chưa đăng nhập.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4635400" y="337661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Vulnerabilities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4635400" y="3843337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Quét các lỗ hổng phổ biến (OWASP Top 10): SQL Injection (NoSQL Injection), XSS, CSRF bằng công cụ OWASP ZAP.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8413700" y="3376612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Authorization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8413700" y="3843337"/>
            <a:ext cx="2920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thử phân quyền (RBAC): User thường không được truy cập API của Admin (VD: Xóa món ăn, xem danh sách user).</a:t>
            </a:r>
            <a:endParaRPr/>
          </a:p>
        </p:txBody>
      </p:sp>
      <p:pic>
        <p:nvPicPr>
          <p:cNvPr descr="image.png" id="282" name="Google Shape;28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670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5400" y="27670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3700" y="2767012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Thiết kế kiến trúc: Tổng quan</a:t>
            </a:r>
            <a:endParaRPr/>
          </a:p>
        </p:txBody>
      </p:sp>
      <p:pic>
        <p:nvPicPr>
          <p:cNvPr descr="image.png" id="291" name="Google Shape;2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240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/>
        </p:nvSpPr>
        <p:spPr>
          <a:xfrm>
            <a:off x="6334125" y="252888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Kiến trúc Microservices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6334125" y="300513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Hệ thống chia nhỏ thành các dịch vụ độc lập: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6334125" y="46053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Vấn đề kiểm thử: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Phức tạp trong việc kiểm thử tích hợp giữa các service và đảm bảo tính nhất quán dữ liệu phân tán.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6457950" y="34051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6572250" y="34051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User Service: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Quản lý người dùng.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6457950" y="38052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6572250" y="38052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Product Service: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Quản lý món ăn.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6457950" y="42052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6572250" y="42052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Order Service: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Xử lý đơn hàng.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Phân tích thành phần &amp; Tích hợp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571500" y="2976562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Kiểm thử Thành phần (Component)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571500" y="34528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thử riêng biệt từng module chức năng trong trạng thái cô lập (Isolation) sử dụng Mock objects.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571500" y="41576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Ví dụ: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Test hàm tính tổng tiền giỏ hàng mà không cần kết nối DB thực.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6334125" y="3128962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Kiểm thử Tích hợp (Integration)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6334125" y="360521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tra sự tương tác giữa các module và service.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6334125" y="40052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Ví dụ: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Order Service có gọi đúng API của Product Service để trừ tồn kho khi tạo đơn hàng hay không.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Kiểm thử Backend (Node.js/Express)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904875" y="3024187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Routing Testing: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các Endpoint URL dẫn đến đúng Controller xử lý.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904875" y="3471862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Entities &amp; Logic: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logic nghiệp vụ trong các Service (VD: Tính toán giá, validate dữ liệu đầu vào).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904875" y="3919537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Middleware: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các lớp trung gian như Auth Middleware (chặn request không có token), Error Handling Middleware.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904875" y="4367212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Tools: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Jest, Supertest, Mocha/Chai.</a:t>
            </a:r>
            <a:endParaRPr/>
          </a:p>
        </p:txBody>
      </p:sp>
      <p:pic>
        <p:nvPicPr>
          <p:cNvPr descr="image.png" id="321" name="Google Shape;32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0432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4909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9385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38626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95537"/>
            <a:ext cx="34924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395537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2395537"/>
            <a:ext cx="34924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Kiểm thử Frontend (ReactJS)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857250" y="3376612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Components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857250" y="3843337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thử việc render component, props, và state. Đảm bảo UI hiển thị đúng theo trạng thái dữ liệu.</a:t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4635400" y="337661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State Management</a:t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4635400" y="3843337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thử Redux/Context API: Action dispatch, Reducer update state chính xác khi người dùng thao tác.</a:t>
            </a:r>
            <a:endParaRPr/>
          </a:p>
        </p:txBody>
      </p:sp>
      <p:sp>
        <p:nvSpPr>
          <p:cNvPr id="337" name="Google Shape;337;p30"/>
          <p:cNvSpPr txBox="1"/>
          <p:nvPr/>
        </p:nvSpPr>
        <p:spPr>
          <a:xfrm>
            <a:off x="8413700" y="3376612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Integration</a:t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8413700" y="3843337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thử việc gọi API từ Frontend (Axios/Fetch) và xử lý dữ liệu trả về để hiển thị.</a:t>
            </a:r>
            <a:endParaRPr/>
          </a:p>
        </p:txBody>
      </p:sp>
      <p:pic>
        <p:nvPicPr>
          <p:cNvPr descr="image.png" id="339" name="Google Shape;33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670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5400" y="27670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3700" y="2767012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4110037"/>
            <a:ext cx="528637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1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Phân tích kết nối &amp; Kiểm thử API</a:t>
            </a:r>
            <a:endParaRPr/>
          </a:p>
        </p:txBody>
      </p:sp>
      <p:sp>
        <p:nvSpPr>
          <p:cNvPr id="348" name="Google Shape;348;p31"/>
          <p:cNvSpPr txBox="1"/>
          <p:nvPr/>
        </p:nvSpPr>
        <p:spPr>
          <a:xfrm>
            <a:off x="571500" y="2705100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Chiến lược kiểm thử API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>
            <a:off x="6334125" y="292893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Công cụ: Postman</a:t>
            </a:r>
            <a:endParaRPr/>
          </a:p>
        </p:txBody>
      </p:sp>
      <p:sp>
        <p:nvSpPr>
          <p:cNvPr id="350" name="Google Shape;350;p31"/>
          <p:cNvSpPr txBox="1"/>
          <p:nvPr/>
        </p:nvSpPr>
        <p:spPr>
          <a:xfrm>
            <a:off x="6334125" y="34051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Sử dụng Collection để chạy bộ test tự động kiểm tra toàn bộ API endpoints.</a:t>
            </a: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904875" y="31813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Status Codes: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200 (OK), 201 (Created), 400 (Bad Request), 401 (Unauthorized), 500 (Server Error).</a:t>
            </a:r>
            <a:endParaRPr/>
          </a:p>
        </p:txBody>
      </p:sp>
      <p:sp>
        <p:nvSpPr>
          <p:cNvPr id="352" name="Google Shape;352;p31"/>
          <p:cNvSpPr txBox="1"/>
          <p:nvPr/>
        </p:nvSpPr>
        <p:spPr>
          <a:xfrm>
            <a:off x="904875" y="39338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Payload: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cấu trúc JSON Request và Response.</a:t>
            </a:r>
            <a:endParaRPr/>
          </a:p>
        </p:txBody>
      </p:sp>
      <p:sp>
        <p:nvSpPr>
          <p:cNvPr id="353" name="Google Shape;353;p31"/>
          <p:cNvSpPr txBox="1"/>
          <p:nvPr/>
        </p:nvSpPr>
        <p:spPr>
          <a:xfrm>
            <a:off x="904875" y="43815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Methods: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GET, POST, PUT, DELETE hoạt động đúng chức năng.</a:t>
            </a:r>
            <a:endParaRPr/>
          </a:p>
        </p:txBody>
      </p:sp>
      <p:pic>
        <p:nvPicPr>
          <p:cNvPr descr="image.png" id="354" name="Google Shape;35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004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528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0055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Phân tích dữ liệu &amp; Nhất quán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571500" y="332898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Đồng bộ Frontend - Backend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571500" y="38052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Đảm bảo dữ liệu hiển thị trên UI khớp hoàn toàn với DB. (VD: Số lượng tồn kho giảm ngay sau khi đặt hàng).</a:t>
            </a:r>
            <a:endParaRPr/>
          </a:p>
        </p:txBody>
      </p:sp>
      <p:sp>
        <p:nvSpPr>
          <p:cNvPr id="364" name="Google Shape;364;p32"/>
          <p:cNvSpPr txBox="1"/>
          <p:nvPr/>
        </p:nvSpPr>
        <p:spPr>
          <a:xfrm>
            <a:off x="6334125" y="317658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Toàn vẹn dữ liệu (Transactions)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6334125" y="365283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thử các giao dịch nhiều bước (Multi-step transactions). Nếu bước thanh toán lỗi, đơn hàng không được tạo và tồn kho không bị trừ (Rollback).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0" name="Google Shape;37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3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Triển khai &amp; CI/CD</a:t>
            </a:r>
            <a:endParaRPr/>
          </a:p>
        </p:txBody>
      </p:sp>
      <p:sp>
        <p:nvSpPr>
          <p:cNvPr id="372" name="Google Shape;372;p33"/>
          <p:cNvSpPr txBox="1"/>
          <p:nvPr/>
        </p:nvSpPr>
        <p:spPr>
          <a:xfrm>
            <a:off x="571500" y="26384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GitHub Actions Pipeline</a:t>
            </a:r>
            <a:endParaRPr/>
          </a:p>
        </p:txBody>
      </p:sp>
      <p:pic>
        <p:nvPicPr>
          <p:cNvPr descr="image.png" id="373" name="Google Shape;37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0240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3"/>
          <p:cNvSpPr txBox="1"/>
          <p:nvPr/>
        </p:nvSpPr>
        <p:spPr>
          <a:xfrm>
            <a:off x="904875" y="31051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Trigger: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Tự động chạy khi có Push hoặc Pull Request vào nhánh main.</a:t>
            </a:r>
            <a:endParaRPr/>
          </a:p>
        </p:txBody>
      </p:sp>
      <p:sp>
        <p:nvSpPr>
          <p:cNvPr id="375" name="Google Shape;375;p33"/>
          <p:cNvSpPr txBox="1"/>
          <p:nvPr/>
        </p:nvSpPr>
        <p:spPr>
          <a:xfrm>
            <a:off x="904875" y="38576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Cài đặt dependencies, build project.</a:t>
            </a:r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904875" y="43053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Chạy toàn bộ Unit Test và Integration Test.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904875" y="47529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Deploy: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Nếu Test Pass -&gt; Deploy lên server.</a:t>
            </a:r>
            <a:endParaRPr/>
          </a:p>
        </p:txBody>
      </p:sp>
      <p:pic>
        <p:nvPicPr>
          <p:cNvPr descr="image.png" id="378" name="Google Shape;37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242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766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243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7202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C59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4"/>
          <p:cNvSpPr txBox="1"/>
          <p:nvPr/>
        </p:nvSpPr>
        <p:spPr>
          <a:xfrm>
            <a:off x="795337" y="2455515"/>
            <a:ext cx="1060132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DAC0A3"/>
                </a:solidFill>
                <a:latin typeface="Roboto Slab"/>
                <a:ea typeface="Roboto Slab"/>
                <a:cs typeface="Roboto Slab"/>
                <a:sym typeface="Roboto Slab"/>
              </a:rPr>
              <a:t>3. Các phương luận trong kiểm thử</a:t>
            </a:r>
            <a:endParaRPr/>
          </a:p>
        </p:txBody>
      </p:sp>
      <p:sp>
        <p:nvSpPr>
          <p:cNvPr id="387" name="Google Shape;387;p34"/>
          <p:cNvSpPr/>
          <p:nvPr/>
        </p:nvSpPr>
        <p:spPr>
          <a:xfrm>
            <a:off x="5381625" y="3541365"/>
            <a:ext cx="1428750" cy="19050"/>
          </a:xfrm>
          <a:prstGeom prst="rect">
            <a:avLst/>
          </a:prstGeom>
          <a:solidFill>
            <a:srgbClr val="DAC0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4"/>
          <p:cNvSpPr txBox="1"/>
          <p:nvPr/>
        </p:nvSpPr>
        <p:spPr>
          <a:xfrm>
            <a:off x="4180730" y="4036665"/>
            <a:ext cx="3830538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Hộp trắng, Hộp đen, Tự động hóa và AI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Kiểm thử Hộp trắng &amp; Hộp đen</a:t>
            </a:r>
            <a:endParaRPr/>
          </a:p>
        </p:txBody>
      </p:sp>
      <p:sp>
        <p:nvSpPr>
          <p:cNvPr id="394" name="Google Shape;394;p35"/>
          <p:cNvSpPr txBox="1"/>
          <p:nvPr/>
        </p:nvSpPr>
        <p:spPr>
          <a:xfrm>
            <a:off x="571500" y="292893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Hộp trắng (White-box)</a:t>
            </a:r>
            <a:endParaRPr/>
          </a:p>
        </p:txBody>
      </p:sp>
      <p:sp>
        <p:nvSpPr>
          <p:cNvPr id="395" name="Google Shape;395;p35"/>
          <p:cNvSpPr txBox="1"/>
          <p:nvPr/>
        </p:nvSpPr>
        <p:spPr>
          <a:xfrm>
            <a:off x="571500" y="34051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Đối tượng: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Developers.</a:t>
            </a:r>
            <a:endParaRPr/>
          </a:p>
        </p:txBody>
      </p:sp>
      <p:sp>
        <p:nvSpPr>
          <p:cNvPr id="396" name="Google Shape;396;p35"/>
          <p:cNvSpPr txBox="1"/>
          <p:nvPr/>
        </p:nvSpPr>
        <p:spPr>
          <a:xfrm>
            <a:off x="571500" y="38052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Chi tiết: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cấu trúc code, luồng logic, nhánh điều kiện (If/Else), vòng lặp.</a:t>
            </a:r>
            <a:endParaRPr/>
          </a:p>
        </p:txBody>
      </p:sp>
      <p:sp>
        <p:nvSpPr>
          <p:cNvPr id="397" name="Google Shape;397;p35"/>
          <p:cNvSpPr txBox="1"/>
          <p:nvPr/>
        </p:nvSpPr>
        <p:spPr>
          <a:xfrm>
            <a:off x="571500" y="45100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Công cụ: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Jest (Code Coverage).</a:t>
            </a:r>
            <a:endParaRPr/>
          </a:p>
        </p:txBody>
      </p:sp>
      <p:sp>
        <p:nvSpPr>
          <p:cNvPr id="398" name="Google Shape;398;p35"/>
          <p:cNvSpPr txBox="1"/>
          <p:nvPr/>
        </p:nvSpPr>
        <p:spPr>
          <a:xfrm>
            <a:off x="6334125" y="292893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Hộp đen (Black-box)</a:t>
            </a:r>
            <a:endParaRPr/>
          </a:p>
        </p:txBody>
      </p:sp>
      <p:sp>
        <p:nvSpPr>
          <p:cNvPr id="399" name="Google Shape;399;p35"/>
          <p:cNvSpPr txBox="1"/>
          <p:nvPr/>
        </p:nvSpPr>
        <p:spPr>
          <a:xfrm>
            <a:off x="6334125" y="34051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Đối tượng: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Testers/QA.</a:t>
            </a:r>
            <a:endParaRPr/>
          </a:p>
        </p:txBody>
      </p:sp>
      <p:sp>
        <p:nvSpPr>
          <p:cNvPr id="400" name="Google Shape;400;p35"/>
          <p:cNvSpPr txBox="1"/>
          <p:nvPr/>
        </p:nvSpPr>
        <p:spPr>
          <a:xfrm>
            <a:off x="6334125" y="38052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Chi tiết: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Kiểm tra chức năng dựa trên input/output mà không quan tâm code bên trong. Tập trung vào nghiệp vụ.</a:t>
            </a:r>
            <a:endParaRPr/>
          </a:p>
        </p:txBody>
      </p:sp>
      <p:sp>
        <p:nvSpPr>
          <p:cNvPr id="401" name="Google Shape;401;p35"/>
          <p:cNvSpPr txBox="1"/>
          <p:nvPr/>
        </p:nvSpPr>
        <p:spPr>
          <a:xfrm>
            <a:off x="6334125" y="45100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Công cụ: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Manual, Selenium.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Kiểm thử nghiệp vụ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571500" y="28860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Use Case Testing</a:t>
            </a:r>
            <a:endParaRPr/>
          </a:p>
        </p:txBody>
      </p:sp>
      <p:sp>
        <p:nvSpPr>
          <p:cNvPr id="408" name="Google Shape;408;p36"/>
          <p:cNvSpPr txBox="1"/>
          <p:nvPr/>
        </p:nvSpPr>
        <p:spPr>
          <a:xfrm>
            <a:off x="571500" y="33528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thử dựa trên các trường hợp sử dụng thực tế:</a:t>
            </a:r>
            <a:endParaRPr/>
          </a:p>
        </p:txBody>
      </p:sp>
      <p:sp>
        <p:nvSpPr>
          <p:cNvPr id="409" name="Google Shape;409;p36"/>
          <p:cNvSpPr txBox="1"/>
          <p:nvPr/>
        </p:nvSpPr>
        <p:spPr>
          <a:xfrm>
            <a:off x="6334125" y="30384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Workflow Testing</a:t>
            </a:r>
            <a:endParaRPr/>
          </a:p>
        </p:txBody>
      </p:sp>
      <p:sp>
        <p:nvSpPr>
          <p:cNvPr id="410" name="Google Shape;410;p36"/>
          <p:cNvSpPr txBox="1"/>
          <p:nvPr/>
        </p:nvSpPr>
        <p:spPr>
          <a:xfrm>
            <a:off x="6334125" y="35052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Kiểm thử toàn bộ quy trình từ đầu đến cuối (End-to-End):</a:t>
            </a:r>
            <a:endParaRPr/>
          </a:p>
        </p:txBody>
      </p:sp>
      <p:pic>
        <p:nvPicPr>
          <p:cNvPr descr="image.png" id="411" name="Google Shape;4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3905250"/>
            <a:ext cx="528637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6"/>
          <p:cNvSpPr txBox="1"/>
          <p:nvPr/>
        </p:nvSpPr>
        <p:spPr>
          <a:xfrm>
            <a:off x="695325" y="37528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13" name="Google Shape;413;p36"/>
          <p:cNvSpPr txBox="1"/>
          <p:nvPr/>
        </p:nvSpPr>
        <p:spPr>
          <a:xfrm>
            <a:off x="809625" y="37528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Đặt hàng thành công.</a:t>
            </a:r>
            <a:endParaRPr/>
          </a:p>
        </p:txBody>
      </p:sp>
      <p:sp>
        <p:nvSpPr>
          <p:cNvPr id="414" name="Google Shape;414;p36"/>
          <p:cNvSpPr txBox="1"/>
          <p:nvPr/>
        </p:nvSpPr>
        <p:spPr>
          <a:xfrm>
            <a:off x="695325" y="41529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15" name="Google Shape;415;p36"/>
          <p:cNvSpPr txBox="1"/>
          <p:nvPr/>
        </p:nvSpPr>
        <p:spPr>
          <a:xfrm>
            <a:off x="809625" y="41529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Đặt hàng thất bại do hết hàng.</a:t>
            </a:r>
            <a:endParaRPr/>
          </a:p>
        </p:txBody>
      </p:sp>
      <p:sp>
        <p:nvSpPr>
          <p:cNvPr id="416" name="Google Shape;416;p36"/>
          <p:cNvSpPr txBox="1"/>
          <p:nvPr/>
        </p:nvSpPr>
        <p:spPr>
          <a:xfrm>
            <a:off x="695325" y="45529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17" name="Google Shape;417;p36"/>
          <p:cNvSpPr txBox="1"/>
          <p:nvPr/>
        </p:nvSpPr>
        <p:spPr>
          <a:xfrm>
            <a:off x="809625" y="45529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Thanh toán bị từ chối.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2" name="Google Shape;42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7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Kiểm thử tự động</a:t>
            </a:r>
            <a:endParaRPr/>
          </a:p>
        </p:txBody>
      </p:sp>
      <p:pic>
        <p:nvPicPr>
          <p:cNvPr descr="image.png" id="424" name="Google Shape;42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240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7"/>
          <p:cNvSpPr txBox="1"/>
          <p:nvPr/>
        </p:nvSpPr>
        <p:spPr>
          <a:xfrm>
            <a:off x="6334125" y="265747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Công cụ: Katalon / Cypress</a:t>
            </a:r>
            <a:endParaRPr/>
          </a:p>
        </p:txBody>
      </p:sp>
      <p:sp>
        <p:nvSpPr>
          <p:cNvPr id="426" name="Google Shape;426;p37"/>
          <p:cNvSpPr txBox="1"/>
          <p:nvPr/>
        </p:nvSpPr>
        <p:spPr>
          <a:xfrm>
            <a:off x="6334125" y="31337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Tự động hóa các kịch bản kiểm thử hồi quy (Regression Test) để chạy lặp lại nhiều lần.</a:t>
            </a:r>
            <a:endParaRPr/>
          </a:p>
        </p:txBody>
      </p:sp>
      <p:sp>
        <p:nvSpPr>
          <p:cNvPr id="427" name="Google Shape;427;p37"/>
          <p:cNvSpPr txBox="1"/>
          <p:nvPr/>
        </p:nvSpPr>
        <p:spPr>
          <a:xfrm>
            <a:off x="6667500" y="38385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Record &amp; Playback hành vi người dùng.</a:t>
            </a:r>
            <a:endParaRPr/>
          </a:p>
        </p:txBody>
      </p:sp>
      <p:sp>
        <p:nvSpPr>
          <p:cNvPr id="428" name="Google Shape;428;p37"/>
          <p:cNvSpPr txBox="1"/>
          <p:nvPr/>
        </p:nvSpPr>
        <p:spPr>
          <a:xfrm>
            <a:off x="6667500" y="42862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Scripting nâng cao để xử lý logic phức tạp.</a:t>
            </a:r>
            <a:endParaRPr/>
          </a:p>
        </p:txBody>
      </p:sp>
      <p:sp>
        <p:nvSpPr>
          <p:cNvPr id="429" name="Google Shape;429;p37"/>
          <p:cNvSpPr txBox="1"/>
          <p:nvPr/>
        </p:nvSpPr>
        <p:spPr>
          <a:xfrm>
            <a:off x="6667500" y="47339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Tích hợp vào CI/CD pipeline.</a:t>
            </a:r>
            <a:endParaRPr/>
          </a:p>
        </p:txBody>
      </p:sp>
      <p:pic>
        <p:nvPicPr>
          <p:cNvPr descr="image.png" id="430" name="Google Shape;43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8576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3053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2" name="Google Shape;43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75297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7" name="Google Shape;43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90775"/>
            <a:ext cx="34924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390775"/>
            <a:ext cx="3492549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2390775"/>
            <a:ext cx="34924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8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Kiểm thử đơn vị (Unit Test)</a:t>
            </a:r>
            <a:endParaRPr/>
          </a:p>
        </p:txBody>
      </p:sp>
      <p:sp>
        <p:nvSpPr>
          <p:cNvPr id="441" name="Google Shape;441;p38"/>
          <p:cNvSpPr txBox="1"/>
          <p:nvPr/>
        </p:nvSpPr>
        <p:spPr>
          <a:xfrm>
            <a:off x="857250" y="3371850"/>
            <a:ext cx="30669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Nguyên tắc FIRST</a:t>
            </a:r>
            <a:endParaRPr/>
          </a:p>
        </p:txBody>
      </p:sp>
      <p:sp>
        <p:nvSpPr>
          <p:cNvPr id="442" name="Google Shape;442;p38"/>
          <p:cNvSpPr txBox="1"/>
          <p:nvPr/>
        </p:nvSpPr>
        <p:spPr>
          <a:xfrm>
            <a:off x="857250" y="3848100"/>
            <a:ext cx="2920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Fast (Nhanh), Independent (Độc lập), Repeatable (Lặp lại được), Self-validating (Tự đánh giá), Timely (Kịp thời).</a:t>
            </a:r>
            <a:endParaRPr/>
          </a:p>
        </p:txBody>
      </p:sp>
      <p:sp>
        <p:nvSpPr>
          <p:cNvPr id="443" name="Google Shape;443;p38"/>
          <p:cNvSpPr txBox="1"/>
          <p:nvPr/>
        </p:nvSpPr>
        <p:spPr>
          <a:xfrm>
            <a:off x="4635400" y="3371850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Mocking</a:t>
            </a:r>
            <a:endParaRPr/>
          </a:p>
        </p:txBody>
      </p:sp>
      <p:sp>
        <p:nvSpPr>
          <p:cNvPr id="444" name="Google Shape;444;p38"/>
          <p:cNvSpPr txBox="1"/>
          <p:nvPr/>
        </p:nvSpPr>
        <p:spPr>
          <a:xfrm>
            <a:off x="4635400" y="383857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Giả lập các phụ thuộc (Database, API bên ngoài) để test focus vào logic của unit hiện tại.</a:t>
            </a:r>
            <a:endParaRPr/>
          </a:p>
        </p:txBody>
      </p:sp>
      <p:sp>
        <p:nvSpPr>
          <p:cNvPr id="445" name="Google Shape;445;p38"/>
          <p:cNvSpPr txBox="1"/>
          <p:nvPr/>
        </p:nvSpPr>
        <p:spPr>
          <a:xfrm>
            <a:off x="8413700" y="3371850"/>
            <a:ext cx="30669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Lưu ý</a:t>
            </a:r>
            <a:endParaRPr/>
          </a:p>
        </p:txBody>
      </p:sp>
      <p:sp>
        <p:nvSpPr>
          <p:cNvPr id="446" name="Google Shape;446;p38"/>
          <p:cNvSpPr txBox="1"/>
          <p:nvPr/>
        </p:nvSpPr>
        <p:spPr>
          <a:xfrm>
            <a:off x="8413700" y="3848100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Viết test case cho cả trường hợp Happy Path (thành công) và Edge Cases (lỗi biên, ngoại lệ).</a:t>
            </a:r>
            <a:endParaRPr/>
          </a:p>
        </p:txBody>
      </p:sp>
      <p:pic>
        <p:nvPicPr>
          <p:cNvPr descr="image.png" id="447" name="Google Shape;447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622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8" name="Google Shape;448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5400" y="27622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3700" y="276225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4" name="Google Shape;45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9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Ứng dụng GenAI trong kiểm thử</a:t>
            </a:r>
            <a:endParaRPr/>
          </a:p>
        </p:txBody>
      </p:sp>
      <p:sp>
        <p:nvSpPr>
          <p:cNvPr id="456" name="Google Shape;456;p39"/>
          <p:cNvSpPr txBox="1"/>
          <p:nvPr/>
        </p:nvSpPr>
        <p:spPr>
          <a:xfrm>
            <a:off x="571500" y="2552700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Tăng tốc độ &amp; Hiệu quả</a:t>
            </a:r>
            <a:endParaRPr/>
          </a:p>
        </p:txBody>
      </p:sp>
      <p:pic>
        <p:nvPicPr>
          <p:cNvPr descr="image.png" id="457" name="Google Shape;45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0240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9"/>
          <p:cNvSpPr txBox="1"/>
          <p:nvPr/>
        </p:nvSpPr>
        <p:spPr>
          <a:xfrm>
            <a:off x="904875" y="3028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Generate Test Cases: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Sử dụng ChatGPT/Copilot để sinh kịch bản test từ User Stories.</a:t>
            </a:r>
            <a:endParaRPr/>
          </a:p>
        </p:txBody>
      </p:sp>
      <p:sp>
        <p:nvSpPr>
          <p:cNvPr id="459" name="Google Shape;459;p39"/>
          <p:cNvSpPr txBox="1"/>
          <p:nvPr/>
        </p:nvSpPr>
        <p:spPr>
          <a:xfrm>
            <a:off x="904875" y="37814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Generate Test Data: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Tạo dữ liệu giả (Mock data) đa dạng, phủ các trường hợp biên.</a:t>
            </a:r>
            <a:endParaRPr/>
          </a:p>
        </p:txBody>
      </p:sp>
      <p:sp>
        <p:nvSpPr>
          <p:cNvPr id="460" name="Google Shape;460;p39"/>
          <p:cNvSpPr txBox="1"/>
          <p:nvPr/>
        </p:nvSpPr>
        <p:spPr>
          <a:xfrm>
            <a:off x="904875" y="4533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Explain Bugs: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Phân tích log lỗi và gợi ý nguyên nhân/cách sửa.</a:t>
            </a:r>
            <a:endParaRPr/>
          </a:p>
        </p:txBody>
      </p:sp>
      <p:pic>
        <p:nvPicPr>
          <p:cNvPr descr="image.png" id="461" name="Google Shape;46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480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2" name="Google Shape;46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004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5295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C59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0"/>
          <p:cNvSpPr txBox="1"/>
          <p:nvPr/>
        </p:nvSpPr>
        <p:spPr>
          <a:xfrm>
            <a:off x="3180635" y="2455515"/>
            <a:ext cx="583072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DAC0A3"/>
                </a:solidFill>
                <a:latin typeface="Roboto Slab"/>
                <a:ea typeface="Roboto Slab"/>
                <a:cs typeface="Roboto Slab"/>
                <a:sym typeface="Roboto Slab"/>
              </a:rPr>
              <a:t>4. Kết quả đạt được</a:t>
            </a:r>
            <a:endParaRPr/>
          </a:p>
        </p:txBody>
      </p:sp>
      <p:sp>
        <p:nvSpPr>
          <p:cNvPr id="469" name="Google Shape;469;p40"/>
          <p:cNvSpPr/>
          <p:nvPr/>
        </p:nvSpPr>
        <p:spPr>
          <a:xfrm>
            <a:off x="5381625" y="3541365"/>
            <a:ext cx="1428750" cy="19050"/>
          </a:xfrm>
          <a:prstGeom prst="rect">
            <a:avLst/>
          </a:prstGeom>
          <a:solidFill>
            <a:srgbClr val="DAC0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0"/>
          <p:cNvSpPr txBox="1"/>
          <p:nvPr/>
        </p:nvSpPr>
        <p:spPr>
          <a:xfrm>
            <a:off x="4639716" y="4036665"/>
            <a:ext cx="2912417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Thực thi, Báo cáo và Tổng kết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5" name="Google Shape;47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1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Báo cáo thực thi &amp; Tổng kết</a:t>
            </a:r>
            <a:endParaRPr/>
          </a:p>
        </p:txBody>
      </p:sp>
      <p:pic>
        <p:nvPicPr>
          <p:cNvPr descr="image.png" id="477" name="Google Shape;47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240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1"/>
          <p:cNvSpPr txBox="1"/>
          <p:nvPr/>
        </p:nvSpPr>
        <p:spPr>
          <a:xfrm>
            <a:off x="6334125" y="2633662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Kết quả</a:t>
            </a:r>
            <a:endParaRPr/>
          </a:p>
        </p:txBody>
      </p:sp>
      <p:sp>
        <p:nvSpPr>
          <p:cNvPr id="479" name="Google Shape;479;p41"/>
          <p:cNvSpPr txBox="1"/>
          <p:nvPr/>
        </p:nvSpPr>
        <p:spPr>
          <a:xfrm>
            <a:off x="6667500" y="31099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 Coverage: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Đạt 85% Unit Test coverage.</a:t>
            </a:r>
            <a:endParaRPr/>
          </a:p>
        </p:txBody>
      </p:sp>
      <p:sp>
        <p:nvSpPr>
          <p:cNvPr id="480" name="Google Shape;480;p41"/>
          <p:cNvSpPr txBox="1"/>
          <p:nvPr/>
        </p:nvSpPr>
        <p:spPr>
          <a:xfrm>
            <a:off x="6667500" y="355758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Pass Rate: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95% kịch bản UAT thông qua.</a:t>
            </a:r>
            <a:endParaRPr/>
          </a:p>
        </p:txBody>
      </p:sp>
      <p:sp>
        <p:nvSpPr>
          <p:cNvPr id="481" name="Google Shape;481;p41"/>
          <p:cNvSpPr txBox="1"/>
          <p:nvPr/>
        </p:nvSpPr>
        <p:spPr>
          <a:xfrm>
            <a:off x="6667500" y="40052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Critical Bugs: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0 lỗi nghiêm trọng khi Release.</a:t>
            </a:r>
            <a:endParaRPr/>
          </a:p>
        </p:txBody>
      </p:sp>
      <p:sp>
        <p:nvSpPr>
          <p:cNvPr id="482" name="Google Shape;482;p41"/>
          <p:cNvSpPr txBox="1"/>
          <p:nvPr/>
        </p:nvSpPr>
        <p:spPr>
          <a:xfrm>
            <a:off x="6667500" y="44529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Giảm 40% thời gian Regression Test nhờ kịch bản tự động.</a:t>
            </a:r>
            <a:endParaRPr/>
          </a:p>
        </p:txBody>
      </p:sp>
      <p:pic>
        <p:nvPicPr>
          <p:cNvPr descr="image.png" id="483" name="Google Shape;483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1289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5766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0243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47198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2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Kết luận &amp; Hướng phát triển</a:t>
            </a:r>
            <a:endParaRPr/>
          </a:p>
        </p:txBody>
      </p:sp>
      <p:sp>
        <p:nvSpPr>
          <p:cNvPr id="492" name="Google Shape;492;p42"/>
          <p:cNvSpPr txBox="1"/>
          <p:nvPr/>
        </p:nvSpPr>
        <p:spPr>
          <a:xfrm>
            <a:off x="571500" y="317658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Kết luận</a:t>
            </a:r>
            <a:endParaRPr/>
          </a:p>
        </p:txBody>
      </p:sp>
      <p:sp>
        <p:nvSpPr>
          <p:cNvPr id="493" name="Google Shape;493;p42"/>
          <p:cNvSpPr txBox="1"/>
          <p:nvPr/>
        </p:nvSpPr>
        <p:spPr>
          <a:xfrm>
            <a:off x="571500" y="365283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Dự án đã xây dựng thành công quy trình kiểm thử toàn diện cho Web TMĐT UMADAKIMASU, kết hợp hiệu quả giữa V-Model và Agile/CI/CD, đảm bảo chất lượng sản phẩm đầu ra.</a:t>
            </a:r>
            <a:endParaRPr/>
          </a:p>
        </p:txBody>
      </p:sp>
      <p:sp>
        <p:nvSpPr>
          <p:cNvPr id="494" name="Google Shape;494;p42"/>
          <p:cNvSpPr txBox="1"/>
          <p:nvPr/>
        </p:nvSpPr>
        <p:spPr>
          <a:xfrm>
            <a:off x="6334125" y="292893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C59"/>
                </a:solidFill>
                <a:latin typeface="Lato"/>
                <a:ea typeface="Lato"/>
                <a:cs typeface="Lato"/>
                <a:sym typeface="Lato"/>
              </a:rPr>
              <a:t>Hướng phát triển</a:t>
            </a:r>
            <a:endParaRPr/>
          </a:p>
        </p:txBody>
      </p:sp>
      <p:pic>
        <p:nvPicPr>
          <p:cNvPr descr="image.png" id="495" name="Google Shape;49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14687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6" name="Google Shape;49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670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2"/>
          <p:cNvSpPr txBox="1"/>
          <p:nvPr/>
        </p:nvSpPr>
        <p:spPr>
          <a:xfrm>
            <a:off x="6457950" y="34051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98" name="Google Shape;498;p42"/>
          <p:cNvSpPr txBox="1"/>
          <p:nvPr/>
        </p:nvSpPr>
        <p:spPr>
          <a:xfrm>
            <a:off x="6572250" y="34051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Mở rộng Automated Test cho 100% tính năng.</a:t>
            </a:r>
            <a:endParaRPr/>
          </a:p>
        </p:txBody>
      </p:sp>
      <p:sp>
        <p:nvSpPr>
          <p:cNvPr id="499" name="Google Shape;499;p42"/>
          <p:cNvSpPr txBox="1"/>
          <p:nvPr/>
        </p:nvSpPr>
        <p:spPr>
          <a:xfrm>
            <a:off x="6457950" y="38052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00" name="Google Shape;500;p42"/>
          <p:cNvSpPr txBox="1"/>
          <p:nvPr/>
        </p:nvSpPr>
        <p:spPr>
          <a:xfrm>
            <a:off x="6572250" y="38052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Tích hợp kiểm thử hiệu năng vào CI/CD pipeline.</a:t>
            </a:r>
            <a:endParaRPr/>
          </a:p>
        </p:txBody>
      </p:sp>
      <p:sp>
        <p:nvSpPr>
          <p:cNvPr id="501" name="Google Shape;501;p42"/>
          <p:cNvSpPr txBox="1"/>
          <p:nvPr/>
        </p:nvSpPr>
        <p:spPr>
          <a:xfrm>
            <a:off x="6457950" y="42052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02" name="Google Shape;502;p42"/>
          <p:cNvSpPr txBox="1"/>
          <p:nvPr/>
        </p:nvSpPr>
        <p:spPr>
          <a:xfrm>
            <a:off x="6572250" y="42052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Ứng dụng sâu hơn AI để tự động bảo trì Test Script (Self-healing tests).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3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Image Sources</a:t>
            </a:r>
            <a:endParaRPr/>
          </a:p>
        </p:txBody>
      </p:sp>
      <p:sp>
        <p:nvSpPr>
          <p:cNvPr id="508" name="Google Shape;508;p43"/>
          <p:cNvSpPr/>
          <p:nvPr/>
        </p:nvSpPr>
        <p:spPr>
          <a:xfrm>
            <a:off x="571500" y="134138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571500" y="212615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3"/>
          <p:cNvSpPr/>
          <p:nvPr/>
        </p:nvSpPr>
        <p:spPr>
          <a:xfrm>
            <a:off x="571500" y="291092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3"/>
          <p:cNvSpPr/>
          <p:nvPr/>
        </p:nvSpPr>
        <p:spPr>
          <a:xfrm>
            <a:off x="571500" y="369570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3"/>
          <p:cNvSpPr/>
          <p:nvPr/>
        </p:nvSpPr>
        <p:spPr>
          <a:xfrm>
            <a:off x="571500" y="448047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3"/>
          <p:cNvSpPr/>
          <p:nvPr/>
        </p:nvSpPr>
        <p:spPr>
          <a:xfrm>
            <a:off x="571500" y="2116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3"/>
          <p:cNvSpPr/>
          <p:nvPr/>
        </p:nvSpPr>
        <p:spPr>
          <a:xfrm>
            <a:off x="571500" y="2116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3"/>
          <p:cNvSpPr/>
          <p:nvPr/>
        </p:nvSpPr>
        <p:spPr>
          <a:xfrm>
            <a:off x="571500" y="290140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3"/>
          <p:cNvSpPr/>
          <p:nvPr/>
        </p:nvSpPr>
        <p:spPr>
          <a:xfrm>
            <a:off x="571500" y="290140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3"/>
          <p:cNvSpPr/>
          <p:nvPr/>
        </p:nvSpPr>
        <p:spPr>
          <a:xfrm>
            <a:off x="571500" y="3686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571500" y="36861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3"/>
          <p:cNvSpPr/>
          <p:nvPr/>
        </p:nvSpPr>
        <p:spPr>
          <a:xfrm>
            <a:off x="571500" y="44709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3"/>
          <p:cNvSpPr/>
          <p:nvPr/>
        </p:nvSpPr>
        <p:spPr>
          <a:xfrm>
            <a:off x="571500" y="44709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571500" y="52557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571500" y="52557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23" name="Google Shape;52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9081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3"/>
          <p:cNvSpPr txBox="1"/>
          <p:nvPr/>
        </p:nvSpPr>
        <p:spPr>
          <a:xfrm>
            <a:off x="1666875" y="148426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https://media.geeksforgeeks.org/wp-content/uploads/20231030123258/software-Testing-SDLC-V-model.webp</a:t>
            </a:r>
            <a:endParaRPr/>
          </a:p>
        </p:txBody>
      </p:sp>
      <p:sp>
        <p:nvSpPr>
          <p:cNvPr id="525" name="Google Shape;525;p43"/>
          <p:cNvSpPr txBox="1"/>
          <p:nvPr/>
        </p:nvSpPr>
        <p:spPr>
          <a:xfrm>
            <a:off x="1666875" y="172997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descr="image.png" id="526" name="Google Shape;52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558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3"/>
          <p:cNvSpPr txBox="1"/>
          <p:nvPr/>
        </p:nvSpPr>
        <p:spPr>
          <a:xfrm>
            <a:off x="1666875" y="226903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https://miro.medium.com/v2/resize:fit:1200/1*TposUnMbBb2ovyd_Dnfw9g.png</a:t>
            </a:r>
            <a:endParaRPr/>
          </a:p>
        </p:txBody>
      </p:sp>
      <p:sp>
        <p:nvSpPr>
          <p:cNvPr id="528" name="Google Shape;528;p43"/>
          <p:cNvSpPr txBox="1"/>
          <p:nvPr/>
        </p:nvSpPr>
        <p:spPr>
          <a:xfrm>
            <a:off x="1666875" y="251474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529" name="Google Shape;52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60352"/>
            <a:ext cx="10001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3"/>
          <p:cNvSpPr txBox="1"/>
          <p:nvPr/>
        </p:nvSpPr>
        <p:spPr>
          <a:xfrm>
            <a:off x="1666875" y="305380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https://images.surferseo.art/03b9115c-8774-432e-b595-a6efc03bc73d.png</a:t>
            </a:r>
            <a:endParaRPr/>
          </a:p>
        </p:txBody>
      </p:sp>
      <p:sp>
        <p:nvSpPr>
          <p:cNvPr id="531" name="Google Shape;531;p43"/>
          <p:cNvSpPr txBox="1"/>
          <p:nvPr/>
        </p:nvSpPr>
        <p:spPr>
          <a:xfrm>
            <a:off x="1666875" y="329951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abstracta.us</a:t>
            </a:r>
            <a:endParaRPr/>
          </a:p>
        </p:txBody>
      </p:sp>
      <p:pic>
        <p:nvPicPr>
          <p:cNvPr descr="image.png" id="532" name="Google Shape;53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51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3"/>
          <p:cNvSpPr txBox="1"/>
          <p:nvPr/>
        </p:nvSpPr>
        <p:spPr>
          <a:xfrm>
            <a:off x="1666875" y="38385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https://learn.microsoft.com/en-us/samples/azure-samples/todo-nodejs-mongo-aca/todo-nodejs-mongo-aca/media/resources.png</a:t>
            </a:r>
            <a:endParaRPr/>
          </a:p>
        </p:txBody>
      </p:sp>
      <p:sp>
        <p:nvSpPr>
          <p:cNvPr id="534" name="Google Shape;534;p43"/>
          <p:cNvSpPr txBox="1"/>
          <p:nvPr/>
        </p:nvSpPr>
        <p:spPr>
          <a:xfrm>
            <a:off x="1666875" y="40842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learn.microsoft.com</a:t>
            </a:r>
            <a:endParaRPr/>
          </a:p>
        </p:txBody>
      </p:sp>
      <p:pic>
        <p:nvPicPr>
          <p:cNvPr descr="image.png" id="535" name="Google Shape;535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298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3"/>
          <p:cNvSpPr txBox="1"/>
          <p:nvPr/>
        </p:nvSpPr>
        <p:spPr>
          <a:xfrm>
            <a:off x="1666875" y="462334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https://d585tldpucybw.cloudfront.net/sfimages/default-source/blogs/2023/2023-04/katalon-studio.png?sfvrsn=5a552f42_3</a:t>
            </a:r>
            <a:endParaRPr/>
          </a:p>
        </p:txBody>
      </p:sp>
      <p:sp>
        <p:nvSpPr>
          <p:cNvPr id="537" name="Google Shape;537;p43"/>
          <p:cNvSpPr txBox="1"/>
          <p:nvPr/>
        </p:nvSpPr>
        <p:spPr>
          <a:xfrm>
            <a:off x="1666875" y="486906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www.telerik.com</a:t>
            </a:r>
            <a:endParaRPr/>
          </a:p>
        </p:txBody>
      </p:sp>
      <p:pic>
        <p:nvPicPr>
          <p:cNvPr descr="image.png" id="538" name="Google Shape;538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4146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3"/>
          <p:cNvSpPr txBox="1"/>
          <p:nvPr/>
        </p:nvSpPr>
        <p:spPr>
          <a:xfrm>
            <a:off x="1666875" y="540811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https://s3.amazonaws.com/blog-assets-production.testsigma.com/blogs/wp-content/uploads/2025/02/27164746/Gen-AI-in-software-testing.webp</a:t>
            </a:r>
            <a:endParaRPr/>
          </a:p>
        </p:txBody>
      </p:sp>
      <p:sp>
        <p:nvSpPr>
          <p:cNvPr id="540" name="Google Shape;540;p43"/>
          <p:cNvSpPr txBox="1"/>
          <p:nvPr/>
        </p:nvSpPr>
        <p:spPr>
          <a:xfrm>
            <a:off x="1666875" y="565383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testsigma.com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4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2C59"/>
                </a:solidFill>
                <a:latin typeface="Roboto Slab"/>
                <a:ea typeface="Roboto Slab"/>
                <a:cs typeface="Roboto Slab"/>
                <a:sym typeface="Roboto Slab"/>
              </a:rPr>
              <a:t>Image Sources</a:t>
            </a:r>
            <a:endParaRPr/>
          </a:p>
        </p:txBody>
      </p:sp>
      <p:pic>
        <p:nvPicPr>
          <p:cNvPr descr="image.png" id="546" name="Google Shape;54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4526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4"/>
          <p:cNvSpPr txBox="1"/>
          <p:nvPr/>
        </p:nvSpPr>
        <p:spPr>
          <a:xfrm>
            <a:off x="1666875" y="344611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https://www.inetsoft.com/images/website/qa-test-results-dashboard.png</a:t>
            </a:r>
            <a:endParaRPr/>
          </a:p>
        </p:txBody>
      </p:sp>
      <p:sp>
        <p:nvSpPr>
          <p:cNvPr id="548" name="Google Shape;548;p44"/>
          <p:cNvSpPr txBox="1"/>
          <p:nvPr/>
        </p:nvSpPr>
        <p:spPr>
          <a:xfrm>
            <a:off x="1666875" y="369183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www.inetsoft.com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